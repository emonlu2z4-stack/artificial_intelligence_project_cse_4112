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8"/>
  </p:notesMasterIdLst>
  <p:handoutMasterIdLst>
    <p:handoutMasterId r:id="rId29"/>
  </p:handoutMasterIdLst>
  <p:sldIdLst>
    <p:sldId id="410" r:id="rId5"/>
    <p:sldId id="383" r:id="rId6"/>
    <p:sldId id="412" r:id="rId7"/>
    <p:sldId id="413" r:id="rId8"/>
    <p:sldId id="397" r:id="rId9"/>
    <p:sldId id="411" r:id="rId10"/>
    <p:sldId id="389" r:id="rId11"/>
    <p:sldId id="414" r:id="rId12"/>
    <p:sldId id="408" r:id="rId13"/>
    <p:sldId id="406" r:id="rId14"/>
    <p:sldId id="391" r:id="rId15"/>
    <p:sldId id="416" r:id="rId16"/>
    <p:sldId id="419" r:id="rId17"/>
    <p:sldId id="421" r:id="rId18"/>
    <p:sldId id="422" r:id="rId19"/>
    <p:sldId id="423" r:id="rId20"/>
    <p:sldId id="425" r:id="rId21"/>
    <p:sldId id="404" r:id="rId22"/>
    <p:sldId id="431" r:id="rId23"/>
    <p:sldId id="420" r:id="rId24"/>
    <p:sldId id="432" r:id="rId25"/>
    <p:sldId id="434" r:id="rId26"/>
    <p:sldId id="39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AEB-20A8-4505-A369-0596B22928F4}" v="1" dt="2026-09-10T10:31:53.567"/>
    <p1510:client id="{D5925BFF-44B9-2EE9-5A82-89A1EDC6831A}" v="16" dt="2026-09-10T08:42:12.344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51:01.4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56 24479,'8653'-56'0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51:01.4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56 24479,'8653'-56'0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51:01.4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56 24479,'8653'-56'0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A417-27A6-03C1-8BDF-0AE20088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96868-B5DE-8768-B087-7F954EF54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9D63B-8220-57A5-B494-DFBDF0AEE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217D7-6F39-C036-62B3-61EC3BFDC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83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4CF8-35F5-5438-F263-16D78D3A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F9222-E724-DF40-B988-D76B9E80D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B8303-1EDD-F98A-7B26-0EC6BB56F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411F2-573A-8C95-D0A8-7EA06C278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69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692E-A63B-9EAC-778E-590236B3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6C92E-44E2-F054-D2BA-0E756BCE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AD572-ABE4-9C4B-9BEA-9C05E1A6F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C5E5E-28CF-2DDD-1D36-35ACD9CB5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81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4F7C-120C-FF61-1DB9-6CD7FE91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0EAD1-09B1-90B9-3CE1-500656A70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0516A-CE57-7FED-5E0B-99C2F937D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556F7-4BCE-AAA3-53A1-4ABBB5CFB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65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2117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/>
              <a:t>AI in MRI IMAGE SEGMENTAION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1560B-1137-CC69-560A-9071E28B2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136"/>
            <a:ext cx="5791200" cy="6543727"/>
          </a:xfrm>
          <a:prstGeom prst="rect">
            <a:avLst/>
          </a:prstGeo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7A7BCEC-60B6-0A5A-7C45-CEBEF8318A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>
            <a:normAutofit/>
          </a:bodyPr>
          <a:lstStyle/>
          <a:p>
            <a:r>
              <a:rPr lang="en-US"/>
              <a:t>Emon Ahmed </a:t>
            </a:r>
          </a:p>
          <a:p>
            <a:r>
              <a:rPr lang="en-US"/>
              <a:t>ID:0182320012101356</a:t>
            </a:r>
          </a:p>
          <a:p>
            <a:r>
              <a:rPr lang="en-US"/>
              <a:t>Leading </a:t>
            </a:r>
            <a:r>
              <a:rPr lang="en-US" err="1"/>
              <a:t>University,Sylhet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25FAC26-C62F-664A-1362-A804B09592D0}"/>
              </a:ext>
            </a:extLst>
          </p:cNvPr>
          <p:cNvSpPr/>
          <p:nvPr/>
        </p:nvSpPr>
        <p:spPr>
          <a:xfrm>
            <a:off x="775253" y="2378770"/>
            <a:ext cx="169096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51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461426F-E8E7-2527-1A4F-C3ACA795D2EB}"/>
              </a:ext>
            </a:extLst>
          </p:cNvPr>
          <p:cNvSpPr/>
          <p:nvPr/>
        </p:nvSpPr>
        <p:spPr>
          <a:xfrm>
            <a:off x="661475" y="3382963"/>
            <a:ext cx="18047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 is Segmentation?</a:t>
            </a:r>
            <a:endParaRPr lang="en-US" sz="185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B7A914E-E1D9-8772-AB08-C770644D414E}"/>
              </a:ext>
            </a:extLst>
          </p:cNvPr>
          <p:cNvSpPr/>
          <p:nvPr/>
        </p:nvSpPr>
        <p:spPr>
          <a:xfrm>
            <a:off x="661475" y="4162524"/>
            <a:ext cx="1804744" cy="379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 In simple terms</a:t>
            </a:r>
            <a:endParaRPr lang="en-US" sz="145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3AA2F61-4A08-04FA-D008-2AC95D14C7A5}"/>
              </a:ext>
            </a:extLst>
          </p:cNvPr>
          <p:cNvSpPr/>
          <p:nvPr/>
        </p:nvSpPr>
        <p:spPr>
          <a:xfrm>
            <a:off x="3597965" y="2378770"/>
            <a:ext cx="1053548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51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781AD77-5F76-F70A-B846-3804683292B4}"/>
              </a:ext>
            </a:extLst>
          </p:cNvPr>
          <p:cNvSpPr/>
          <p:nvPr/>
        </p:nvSpPr>
        <p:spPr>
          <a:xfrm>
            <a:off x="3409122" y="3382963"/>
            <a:ext cx="124239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Importance</a:t>
            </a:r>
            <a:endParaRPr lang="en-US" sz="185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926A6EF-8310-9D08-6909-AD56F09443EC}"/>
              </a:ext>
            </a:extLst>
          </p:cNvPr>
          <p:cNvSpPr/>
          <p:nvPr/>
        </p:nvSpPr>
        <p:spPr>
          <a:xfrm>
            <a:off x="3309729" y="3867249"/>
            <a:ext cx="16002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Applications Significance Limitations</a:t>
            </a:r>
            <a:endParaRPr lang="en-US" sz="145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60E8BF6-6E94-FA23-5177-A6BCC8E322AB}"/>
              </a:ext>
            </a:extLst>
          </p:cNvPr>
          <p:cNvSpPr/>
          <p:nvPr/>
        </p:nvSpPr>
        <p:spPr>
          <a:xfrm>
            <a:off x="6096000" y="2453951"/>
            <a:ext cx="1159565" cy="7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510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38793A90-AB68-B793-7C78-C44E9A0F1799}"/>
              </a:ext>
            </a:extLst>
          </p:cNvPr>
          <p:cNvSpPr/>
          <p:nvPr/>
        </p:nvSpPr>
        <p:spPr>
          <a:xfrm>
            <a:off x="5990254" y="3437427"/>
            <a:ext cx="1455576" cy="53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Fundamental Concepts</a:t>
            </a:r>
            <a:endParaRPr lang="en-US" sz="185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46752E1-61E6-C65C-2CBE-DAA2C3911722}"/>
              </a:ext>
            </a:extLst>
          </p:cNvPr>
          <p:cNvSpPr/>
          <p:nvPr/>
        </p:nvSpPr>
        <p:spPr>
          <a:xfrm>
            <a:off x="5887616" y="4162524"/>
            <a:ext cx="19221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Visualization Segmentation mean?</a:t>
            </a:r>
            <a:endParaRPr lang="en-US" sz="145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923038CE-251A-768E-ACF7-53C67DD0170A}"/>
              </a:ext>
            </a:extLst>
          </p:cNvPr>
          <p:cNvSpPr/>
          <p:nvPr/>
        </p:nvSpPr>
        <p:spPr>
          <a:xfrm>
            <a:off x="9134669" y="2378770"/>
            <a:ext cx="1567089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510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649CB1F-4220-DC4C-51BD-BAA04B11A7BF}"/>
              </a:ext>
            </a:extLst>
          </p:cNvPr>
          <p:cNvSpPr/>
          <p:nvPr/>
        </p:nvSpPr>
        <p:spPr>
          <a:xfrm>
            <a:off x="9069355" y="3382963"/>
            <a:ext cx="248586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Mathematical Concepts</a:t>
            </a:r>
            <a:endParaRPr lang="en-US" sz="185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3DE05C06-33FB-8831-96CB-C2D39CB62DEF}"/>
              </a:ext>
            </a:extLst>
          </p:cNvPr>
          <p:cNvSpPr/>
          <p:nvPr/>
        </p:nvSpPr>
        <p:spPr>
          <a:xfrm>
            <a:off x="8994710" y="4162524"/>
            <a:ext cx="25605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mathematics behind it?</a:t>
            </a:r>
            <a:endParaRPr lang="en-US" sz="145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A0F779-0D51-1CE8-E174-7FEA873A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" y="0"/>
            <a:ext cx="12071350" cy="67323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484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E7741BE-DDD1-2E93-A595-29B5CB67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n-US"/>
              <a:t>What is image segmentation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A55A186-7D9D-3810-3B59-D55EF0C0F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772" y="2351314"/>
            <a:ext cx="9753600" cy="38686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246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91" y="411479"/>
            <a:ext cx="8446614" cy="3291840"/>
          </a:xfrm>
        </p:spPr>
        <p:txBody>
          <a:bodyPr/>
          <a:lstStyle/>
          <a:p>
            <a:r>
              <a:rPr lang="en-US"/>
              <a:t>“</a:t>
            </a:r>
            <a:r>
              <a:rPr lang="en-US" err="1"/>
              <a:t>Partitoning</a:t>
            </a:r>
            <a:r>
              <a:rPr lang="en-US"/>
              <a:t> image in to meaningful segment”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 the medical image it is identifying the organ, tissue and other biological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                             </a:t>
            </a:r>
            <a:r>
              <a:rPr lang="en-US" u="sng"/>
              <a:t>Agenda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AF06F9E-706D-B1EB-8124-4A347766E25E}"/>
              </a:ext>
            </a:extLst>
          </p:cNvPr>
          <p:cNvSpPr/>
          <p:nvPr/>
        </p:nvSpPr>
        <p:spPr>
          <a:xfrm>
            <a:off x="775253" y="2378770"/>
            <a:ext cx="169096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510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18F5C11-8261-62F5-7BF9-3836757DFBCB}"/>
              </a:ext>
            </a:extLst>
          </p:cNvPr>
          <p:cNvSpPr/>
          <p:nvPr/>
        </p:nvSpPr>
        <p:spPr>
          <a:xfrm>
            <a:off x="661475" y="3382963"/>
            <a:ext cx="18047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 is Segmentation?</a:t>
            </a:r>
            <a:endParaRPr lang="en-US" sz="185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6C04805-61F5-FC5B-8634-0D73D8CDFFD6}"/>
              </a:ext>
            </a:extLst>
          </p:cNvPr>
          <p:cNvSpPr/>
          <p:nvPr/>
        </p:nvSpPr>
        <p:spPr>
          <a:xfrm>
            <a:off x="661475" y="4162524"/>
            <a:ext cx="18047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it? In simple terms</a:t>
            </a:r>
            <a:endParaRPr lang="en-US" sz="145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C628016-ACBD-5E67-2170-F415E0CE595A}"/>
              </a:ext>
            </a:extLst>
          </p:cNvPr>
          <p:cNvSpPr/>
          <p:nvPr/>
        </p:nvSpPr>
        <p:spPr>
          <a:xfrm>
            <a:off x="3597965" y="2378770"/>
            <a:ext cx="1053548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510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D866F94-A76D-0C5D-6A9F-DAEA25C2C46E}"/>
              </a:ext>
            </a:extLst>
          </p:cNvPr>
          <p:cNvSpPr/>
          <p:nvPr/>
        </p:nvSpPr>
        <p:spPr>
          <a:xfrm>
            <a:off x="3409122" y="3382963"/>
            <a:ext cx="124239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Importance</a:t>
            </a:r>
            <a:endParaRPr lang="en-US" sz="185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2226DA46-26A0-13E4-F4FB-E3EF18E03465}"/>
              </a:ext>
            </a:extLst>
          </p:cNvPr>
          <p:cNvSpPr/>
          <p:nvPr/>
        </p:nvSpPr>
        <p:spPr>
          <a:xfrm>
            <a:off x="3309729" y="3867249"/>
            <a:ext cx="16002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Applications Significance Limitations</a:t>
            </a:r>
            <a:endParaRPr lang="en-US" sz="145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9C5A1E0-6BDB-AF6E-A767-524ABBD05973}"/>
              </a:ext>
            </a:extLst>
          </p:cNvPr>
          <p:cNvSpPr/>
          <p:nvPr/>
        </p:nvSpPr>
        <p:spPr>
          <a:xfrm>
            <a:off x="6096000" y="2453951"/>
            <a:ext cx="1159565" cy="7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51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62B89D5-F9F4-FEAC-9BDF-1616773C936E}"/>
              </a:ext>
            </a:extLst>
          </p:cNvPr>
          <p:cNvSpPr/>
          <p:nvPr/>
        </p:nvSpPr>
        <p:spPr>
          <a:xfrm>
            <a:off x="5990254" y="3437427"/>
            <a:ext cx="1455576" cy="53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Fundamental Concepts</a:t>
            </a:r>
            <a:endParaRPr lang="en-US" sz="185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67A06D9-A668-F433-A0A5-C357E8E91A9D}"/>
              </a:ext>
            </a:extLst>
          </p:cNvPr>
          <p:cNvSpPr/>
          <p:nvPr/>
        </p:nvSpPr>
        <p:spPr>
          <a:xfrm>
            <a:off x="5887616" y="4162524"/>
            <a:ext cx="19221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Visualization Segmentation mean?</a:t>
            </a:r>
            <a:endParaRPr lang="en-US" sz="145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DA885B94-5A28-BB29-4C14-CD4DD00C99B0}"/>
              </a:ext>
            </a:extLst>
          </p:cNvPr>
          <p:cNvSpPr/>
          <p:nvPr/>
        </p:nvSpPr>
        <p:spPr>
          <a:xfrm>
            <a:off x="9134669" y="2378770"/>
            <a:ext cx="1567089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510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1AFACFE-AD31-CAF1-B36A-AF6377C8ADC0}"/>
              </a:ext>
            </a:extLst>
          </p:cNvPr>
          <p:cNvSpPr/>
          <p:nvPr/>
        </p:nvSpPr>
        <p:spPr>
          <a:xfrm>
            <a:off x="9069355" y="3382963"/>
            <a:ext cx="248586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Mathematical Concepts</a:t>
            </a:r>
            <a:endParaRPr lang="en-US" sz="185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F20D77F3-C900-30C1-1143-B7C425C0E85D}"/>
              </a:ext>
            </a:extLst>
          </p:cNvPr>
          <p:cNvSpPr/>
          <p:nvPr/>
        </p:nvSpPr>
        <p:spPr>
          <a:xfrm>
            <a:off x="8994710" y="4162524"/>
            <a:ext cx="25605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mathematics behind it?</a:t>
            </a:r>
            <a:endParaRPr lang="en-US" sz="1450"/>
          </a:p>
        </p:txBody>
      </p:sp>
    </p:spTree>
    <p:extLst>
      <p:ext uri="{BB962C8B-B14F-4D97-AF65-F5344CB8AC3E}">
        <p14:creationId xmlns:p14="http://schemas.microsoft.com/office/powerpoint/2010/main" val="312250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US"/>
              <a:t>Applying the medical images..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72C97A-B486-5C3F-9AED-B28B32204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1" r="6538"/>
          <a:stretch>
            <a:fillRect/>
          </a:stretch>
        </p:blipFill>
        <p:spPr>
          <a:xfrm>
            <a:off x="2680642" y="2221663"/>
            <a:ext cx="7810500" cy="36993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1586A5-805F-90D6-C465-B368F1C5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40" r="17085" b="1"/>
          <a:stretch>
            <a:fillRect/>
          </a:stretch>
        </p:blipFill>
        <p:spPr>
          <a:xfrm>
            <a:off x="120650" y="68263"/>
            <a:ext cx="11950700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3868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9D0DF5-E794-D238-D7C2-AAA26B071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0" y="68262"/>
            <a:ext cx="11896419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CDC8F9C-F3D5-9B05-CA9E-BBDA79E39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" y="481035"/>
            <a:ext cx="11950700" cy="59155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US"/>
              <a:t>Diagnosis + Tissue Abnormalities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D6093-A833-4F80-E71A-596B07DA9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58" y="2676525"/>
            <a:ext cx="4468907" cy="3597470"/>
          </a:xfrm>
          <a:prstGeom prst="rect">
            <a:avLst/>
          </a:prstGeom>
          <a:noFill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1041038" y="2676525"/>
            <a:ext cx="3597470" cy="3597470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C0CCE4F-BB0A-2C1E-2A65-0C972BC5C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76525"/>
            <a:ext cx="5892857" cy="390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3A25-137F-E76B-B0D1-0AC3301D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599D-319A-5DA5-FD82-3760CE17723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773D9-3E10-2932-7AEE-DB3FEE184C7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41760-6252-D1A9-B84C-F6F6CA25F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15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0513-0960-7C6F-D67E-8EB2E4FF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A3A4076-3E6C-09EC-E9FE-EF0D70905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/>
              <a:t>Work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C4D18-660C-017D-4950-0D19044D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" y="3580249"/>
            <a:ext cx="9753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92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0ABD-D96C-324F-F01E-628550EFB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447F63-E19E-DAFA-7931-9F6F7E94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/>
              <a:t>Preprocessing :for MRI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1AE595-29C9-7F50-19B9-AA00B283D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1" y="2427125"/>
            <a:ext cx="97536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23AD-1F9C-3F7C-8411-7775009B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6304E3-5DE8-6B04-0586-49D7086B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US"/>
              <a:t>Bias Field Correction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E3A37C-AE02-402C-33E2-2FD64053D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198" y="2592003"/>
            <a:ext cx="9753600" cy="362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4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0B96-E999-E6EE-55D1-173C906F8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04D2E8-B17E-0A23-7B0B-2DBC5A6E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/>
              <a:t>Brain extraction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12918-92DF-8904-81F1-9366B258F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35" y="2797336"/>
            <a:ext cx="97536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30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FDCA-E525-EA74-2A50-8C498CE2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6E55-5773-0501-8D05-819465EC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n-US"/>
              <a:t>   Learning to image segment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1CA59C-39BD-5EE4-C5BB-600490D57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485" y="584005"/>
            <a:ext cx="5573602" cy="39990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9041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/>
              <a:t>Model Training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0D757E-9D50-0000-269C-8FED90061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41" y="2202997"/>
            <a:ext cx="975360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9CB2-2261-1BD1-7EBF-C806979B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CED2AD9-F4EA-F782-1AA2-5B7CF19F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US"/>
              <a:t>Trained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028A9-2BDA-D626-601F-D940CAD0B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11" y="2919333"/>
            <a:ext cx="7810500" cy="23040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2994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BC62109-CD13-4F9D-D26D-1C3B2A94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/>
          <a:p>
            <a:r>
              <a:rPr lang="en-US"/>
              <a:t>OPTIMIZATION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8B5C4-765F-6731-1F4B-6766F0869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97" y="2560500"/>
            <a:ext cx="8467558" cy="338702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0F0F33B-5375-726D-A1FD-F9807D05D490}"/>
                  </a:ext>
                </a:extLst>
              </p14:cNvPr>
              <p14:cNvContentPartPr/>
              <p14:nvPr/>
            </p14:nvContentPartPr>
            <p14:xfrm>
              <a:off x="1225851" y="1567329"/>
              <a:ext cx="3115440" cy="2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0F0F33B-5375-726D-A1FD-F9807D05D4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7851" y="1549329"/>
                <a:ext cx="3151080" cy="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425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5853-2CC4-1D0C-34E9-4F0FF260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EC8710-DE73-8C76-43C5-77464719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/>
          <a:p>
            <a:r>
              <a:rPr lang="en-US"/>
              <a:t>Learning Rate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72E334A-6186-12C6-028D-0EC7DAD68842}"/>
                  </a:ext>
                </a:extLst>
              </p14:cNvPr>
              <p14:cNvContentPartPr/>
              <p14:nvPr/>
            </p14:nvContentPartPr>
            <p14:xfrm>
              <a:off x="1225851" y="1567329"/>
              <a:ext cx="3115440" cy="2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72E334A-6186-12C6-028D-0EC7DAD688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7851" y="1549329"/>
                <a:ext cx="3151080" cy="561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1C23215-E6CD-79F9-CA66-2BBB645A7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940" y="1993155"/>
            <a:ext cx="97536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90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78CE-0E15-6692-41A1-12213051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25D3416-8488-2364-A271-113456CF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/>
          <a:p>
            <a:r>
              <a:rPr lang="en-US"/>
              <a:t>How trained model predict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280792-2D43-866B-D4FD-1B766A6C095B}"/>
                  </a:ext>
                </a:extLst>
              </p14:cNvPr>
              <p14:cNvContentPartPr/>
              <p14:nvPr/>
            </p14:nvContentPartPr>
            <p14:xfrm>
              <a:off x="1225851" y="1567329"/>
              <a:ext cx="3115440" cy="2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280792-2D43-866B-D4FD-1B766A6C09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7851" y="1549329"/>
                <a:ext cx="3151080" cy="561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04CE207-ECDC-4C65-D3C9-174BF66B2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43" y="2359348"/>
            <a:ext cx="97536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03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5c028f3-a9ec-44b5-835b-ea2f9f2eccb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6F68923DE4155041A09ED4C9B0D98793" ma:contentTypeVersion="5" ma:contentTypeDescription="新建文档。" ma:contentTypeScope="" ma:versionID="454a41fcaf45652ff517c2af50059007">
  <xsd:schema xmlns:xsd="http://www.w3.org/2001/XMLSchema" xmlns:xs="http://www.w3.org/2001/XMLSchema" xmlns:p="http://schemas.microsoft.com/office/2006/metadata/properties" xmlns:ns3="c5c028f3-a9ec-44b5-835b-ea2f9f2eccb2" targetNamespace="http://schemas.microsoft.com/office/2006/metadata/properties" ma:root="true" ma:fieldsID="e00668a099da0de8e22c2bb267542779" ns3:_="">
    <xsd:import namespace="c5c028f3-a9ec-44b5-835b-ea2f9f2eccb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c028f3-a9ec-44b5-835b-ea2f9f2eccb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purl.org/dc/dcmitype/"/>
    <ds:schemaRef ds:uri="http://purl.org/dc/terms/"/>
    <ds:schemaRef ds:uri="http://purl.org/dc/elements/1.1/"/>
    <ds:schemaRef ds:uri="c5c028f3-a9ec-44b5-835b-ea2f9f2eccb2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6C383F-BAED-4360-A2C5-D91314D3BDC8}">
  <ds:schemaRefs>
    <ds:schemaRef ds:uri="c5c028f3-a9ec-44b5-835b-ea2f9f2ecc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108</TotalTime>
  <Words>176</Words>
  <Application>Microsoft Office PowerPoint</Application>
  <PresentationFormat>Widescreen</PresentationFormat>
  <Paragraphs>61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Franklin Gothic Book</vt:lpstr>
      <vt:lpstr>Franklin Gothic Demi</vt:lpstr>
      <vt:lpstr>Inter</vt:lpstr>
      <vt:lpstr>Inter Bold</vt:lpstr>
      <vt:lpstr>Custom</vt:lpstr>
      <vt:lpstr>AI in MRI IMAGE SEGMENTAION</vt:lpstr>
      <vt:lpstr>Agenda</vt:lpstr>
      <vt:lpstr>PowerPoint Presentation</vt:lpstr>
      <vt:lpstr>What is image segmentation</vt:lpstr>
      <vt:lpstr>“Partitoning image in to meaningful segment”</vt:lpstr>
      <vt:lpstr>                             Agenda</vt:lpstr>
      <vt:lpstr>Applying the medical images..</vt:lpstr>
      <vt:lpstr>PowerPoint Presentation</vt:lpstr>
      <vt:lpstr>PowerPoint Presentation</vt:lpstr>
      <vt:lpstr>PowerPoint Presentation</vt:lpstr>
      <vt:lpstr>Diagnosis + Tissue Abnormalities</vt:lpstr>
      <vt:lpstr>PowerPoint Presentation</vt:lpstr>
      <vt:lpstr>Work Flow</vt:lpstr>
      <vt:lpstr>Preprocessing :for MRI</vt:lpstr>
      <vt:lpstr>Bias Field Correction</vt:lpstr>
      <vt:lpstr>Brain extraction</vt:lpstr>
      <vt:lpstr>   Learning to image segment</vt:lpstr>
      <vt:lpstr>Model Training</vt:lpstr>
      <vt:lpstr>Trained Model</vt:lpstr>
      <vt:lpstr>OPTIMIZATION</vt:lpstr>
      <vt:lpstr>Learning Rate</vt:lpstr>
      <vt:lpstr>How trained model predict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2026-09-01T10:16:32Z</dcterms:created>
  <dcterms:modified xsi:type="dcterms:W3CDTF">2026-09-10T10:31:53Z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0x0101006F68923DE4155041A09ED4C9B0D98793</vt:lpwstr>
  </property>
</Properties>
</file>